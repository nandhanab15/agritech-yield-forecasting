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strument Sans Bold" panose="020B0604020202020204" charset="0"/>
      <p:regular r:id="rId13"/>
    </p:embeddedFont>
    <p:embeddedFont>
      <p:font typeface="Instrument Sans Medium" panose="020B0604020202020204" charset="0"/>
      <p:regular r:id="rId14"/>
    </p:embeddedFont>
    <p:embeddedFont>
      <p:font typeface="Instrument Sans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29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01254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Mushroom Yield Forecast using Machine Learning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525911"/>
            <a:ext cx="230832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 Data Analyst Capstone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2905795"/>
            <a:ext cx="4722763" cy="536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Presented by Nandhana B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"An end-to-end machine learning pipeline for precision agriculture."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387" y="53280"/>
            <a:ext cx="2854226" cy="503693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391269"/>
            <a:ext cx="2941588" cy="26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this project matters</a:t>
            </a:r>
            <a:endParaRPr lang="en-US" sz="16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795114"/>
            <a:ext cx="266477" cy="266477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96119" y="1176040"/>
            <a:ext cx="1485081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Environmental volatility</a:t>
            </a:r>
            <a:endParaRPr lang="en-US" sz="1000" dirty="0"/>
          </a:p>
        </p:txBody>
      </p:sp>
      <p:sp>
        <p:nvSpPr>
          <p:cNvPr id="7" name="Text 2"/>
          <p:cNvSpPr/>
          <p:nvPr/>
        </p:nvSpPr>
        <p:spPr>
          <a:xfrm>
            <a:off x="496119" y="1397496"/>
            <a:ext cx="4722763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Small changes in temperature, humidity and CO₂ create large yield unpredictability.</a:t>
            </a:r>
            <a:endParaRPr lang="en-US" sz="8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1739280"/>
            <a:ext cx="266477" cy="266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96119" y="2120205"/>
            <a:ext cx="1332458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Financial impact</a:t>
            </a:r>
            <a:endParaRPr lang="en-US" sz="1000" dirty="0"/>
          </a:p>
        </p:txBody>
      </p:sp>
      <p:sp>
        <p:nvSpPr>
          <p:cNvPr id="10" name="Text 4"/>
          <p:cNvSpPr/>
          <p:nvPr/>
        </p:nvSpPr>
        <p:spPr>
          <a:xfrm>
            <a:off x="496119" y="2341662"/>
            <a:ext cx="4722763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Yield uncertainty leads to planning errors, wasted inputs and lost revenue.</a:t>
            </a:r>
            <a:endParaRPr lang="en-US" sz="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683446"/>
            <a:ext cx="266477" cy="26647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96119" y="3064371"/>
            <a:ext cx="1859756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Machine learning opportunity</a:t>
            </a:r>
            <a:endParaRPr lang="en-US" sz="1000" dirty="0"/>
          </a:p>
        </p:txBody>
      </p:sp>
      <p:sp>
        <p:nvSpPr>
          <p:cNvPr id="13" name="Text 6"/>
          <p:cNvSpPr/>
          <p:nvPr/>
        </p:nvSpPr>
        <p:spPr>
          <a:xfrm>
            <a:off x="496119" y="3285827"/>
            <a:ext cx="4722763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Prediction enables proactive environmental control, reduced waste and better scheduling.</a:t>
            </a:r>
            <a:endParaRPr lang="en-US" sz="800" dirty="0"/>
          </a:p>
        </p:txBody>
      </p:sp>
      <p:sp>
        <p:nvSpPr>
          <p:cNvPr id="14" name="Text 7"/>
          <p:cNvSpPr/>
          <p:nvPr/>
        </p:nvSpPr>
        <p:spPr>
          <a:xfrm>
            <a:off x="267519" y="3547393"/>
            <a:ext cx="5179963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Business Impact</a:t>
            </a:r>
            <a:endParaRPr lang="en-US" sz="800" dirty="0"/>
          </a:p>
        </p:txBody>
      </p:sp>
      <p:sp>
        <p:nvSpPr>
          <p:cNvPr id="15" name="Text 8"/>
          <p:cNvSpPr/>
          <p:nvPr/>
        </p:nvSpPr>
        <p:spPr>
          <a:xfrm>
            <a:off x="496119" y="3808958"/>
            <a:ext cx="4722763" cy="94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spcAft>
                <a:spcPts val="800"/>
              </a:spcAft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 Better harvest planning</a:t>
            </a:r>
            <a:endParaRPr lang="en-US" sz="800" dirty="0"/>
          </a:p>
          <a:p>
            <a:pPr marL="0" indent="0" algn="l">
              <a:lnSpc>
                <a:spcPct val="124000"/>
              </a:lnSpc>
              <a:spcAft>
                <a:spcPts val="800"/>
              </a:spcAft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 Reduced crop waste</a:t>
            </a:r>
            <a:endParaRPr lang="en-US" sz="800" dirty="0"/>
          </a:p>
          <a:p>
            <a:pPr marL="0" indent="0" algn="l">
              <a:lnSpc>
                <a:spcPct val="124000"/>
              </a:lnSpc>
              <a:spcAft>
                <a:spcPts val="800"/>
              </a:spcAft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 Improved environmental control</a:t>
            </a:r>
            <a:endParaRPr lang="en-US" sz="8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 Data-driven farm decisions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2230"/>
            <a:ext cx="2607394" cy="26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End-to-end workflow</a:t>
            </a:r>
            <a:endParaRPr lang="en-US" sz="1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791914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617020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810016"/>
            <a:ext cx="2208564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01116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204158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 Ingestion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381128"/>
            <a:ext cx="815176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Tools: Python • Pan</a:t>
            </a:r>
            <a:r>
              <a:rPr lang="en-US" sz="8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Tools Used:</a:t>
            </a: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Python • Pandas • NumPy • Scikit-learn • Joblib • Streamlit • Git • GitHub</a:t>
            </a:r>
            <a:endParaRPr lang="en-US" sz="8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project follows a complete machine learning workflow from data ingestion and preprocessing to model training, deployment, and prediction monitoring.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17464"/>
            <a:ext cx="29380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Dataset Overview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75570"/>
            <a:ext cx="757982" cy="94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9105" y="217557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Dataset Size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09105" y="2443832"/>
            <a:ext cx="1700882" cy="744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Initial Records: 1,025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Cleaned Records: 926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Daily sensor observations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991" y="2175570"/>
            <a:ext cx="757982" cy="947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77978" y="217557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Input features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177978" y="2443832"/>
            <a:ext cx="1700957" cy="744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🌡</a:t>
            </a: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Temperature (°C)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💧</a:t>
            </a: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Humidity (%)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🌫</a:t>
            </a: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CO₂ (ppm)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939" y="2175570"/>
            <a:ext cx="757982" cy="947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46925" y="217557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Target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946925" y="2443832"/>
            <a:ext cx="170095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🍄</a:t>
            </a: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Daily Mushroom Yield (kg)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496119" y="3327574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insight: Humidity showed the strongest positive relationship with mushroom yield, while temperature also contributed meaningfully.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3421"/>
            <a:ext cx="3581028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Building the prediction model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891778"/>
            <a:ext cx="3938736" cy="11966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98068" y="976089"/>
            <a:ext cx="134838" cy="1686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22771" y="1341388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22771" y="1618878"/>
            <a:ext cx="36854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Baseline model with high interpretability and excellent performance on the dataset.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90304"/>
            <a:ext cx="3938736" cy="11966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98068" y="2274615"/>
            <a:ext cx="134838" cy="1686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22771" y="2639913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22771" y="2917403"/>
            <a:ext cx="36854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Ensemble model capable of capturing nonlinear relationships between environmental variables.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488829"/>
            <a:ext cx="3938736" cy="119665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98068" y="3573140"/>
            <a:ext cx="134838" cy="1686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22771" y="3938439"/>
            <a:ext cx="1455837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Tuned Random Forest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22771" y="4215929"/>
            <a:ext cx="36854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Hyperparameters optimized using GridSearchCV with TimeSeriesSplit cross-validation.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4713908" y="891778"/>
            <a:ext cx="224805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908" y="1068512"/>
            <a:ext cx="3938736" cy="142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13908" y="1153269"/>
            <a:ext cx="2049587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Training → Validation → Testing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713908" y="1430759"/>
            <a:ext cx="39387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Models were trained on historical data, validated using cross-validation, and evaluated on an unseen test dataset.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4713908" y="1959843"/>
            <a:ext cx="224805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8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908" y="2114104"/>
            <a:ext cx="3938736" cy="142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713908" y="2221334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TimeSeriesSplit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713908" y="2498824"/>
            <a:ext cx="39387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Chronological splitting preserved the order of observations and prevented data leakage, ensuring realistic model evaluation.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4713908" y="3027908"/>
            <a:ext cx="224805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8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908" y="3159696"/>
            <a:ext cx="3938736" cy="142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713908" y="3289399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4713908" y="3566889"/>
            <a:ext cx="393873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MAE (Mean Absolute Error)</a:t>
            </a:r>
            <a:endParaRPr lang="en-US" sz="8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RMSE (Root Mean Squared Error)</a:t>
            </a:r>
            <a:endParaRPr lang="en-US" sz="8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R² Score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8630"/>
            <a:ext cx="17751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Model performance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96119" y="583257"/>
            <a:ext cx="8151763" cy="184770"/>
          </a:xfrm>
          <a:prstGeom prst="roundRect">
            <a:avLst>
              <a:gd name="adj" fmla="val 14980"/>
            </a:avLst>
          </a:prstGeom>
          <a:solidFill>
            <a:srgbClr val="3D3D4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665559"/>
            <a:ext cx="82302" cy="658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0133" y="634678"/>
            <a:ext cx="8329092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Champion model highlighted: Linear Regression</a:t>
            </a:r>
            <a:endParaRPr lang="en-US" sz="500" dirty="0"/>
          </a:p>
        </p:txBody>
      </p:sp>
      <p:sp>
        <p:nvSpPr>
          <p:cNvPr id="6" name="Shape 3"/>
          <p:cNvSpPr/>
          <p:nvPr/>
        </p:nvSpPr>
        <p:spPr>
          <a:xfrm>
            <a:off x="496119" y="807393"/>
            <a:ext cx="8151763" cy="640184"/>
          </a:xfrm>
          <a:prstGeom prst="roundRect">
            <a:avLst>
              <a:gd name="adj" fmla="val 432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0881" y="812155"/>
            <a:ext cx="8142238" cy="1322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01104" y="812155"/>
            <a:ext cx="2686869" cy="132234"/>
          </a:xfrm>
          <a:prstGeom prst="rect">
            <a:avLst/>
          </a:prstGeom>
          <a:solidFill>
            <a:srgbClr val="D5D5D8"/>
          </a:solidFill>
          <a:ln/>
        </p:spPr>
      </p:sp>
      <p:sp>
        <p:nvSpPr>
          <p:cNvPr id="9" name="Text 6"/>
          <p:cNvSpPr/>
          <p:nvPr/>
        </p:nvSpPr>
        <p:spPr>
          <a:xfrm>
            <a:off x="566961" y="837902"/>
            <a:ext cx="3009974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Model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3256211" y="837902"/>
            <a:ext cx="2111946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MAE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5047431" y="837902"/>
            <a:ext cx="2111946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RMSE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6838652" y="837902"/>
            <a:ext cx="2195810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R²</a:t>
            </a:r>
            <a:endParaRPr lang="en-US" sz="500" dirty="0"/>
          </a:p>
        </p:txBody>
      </p:sp>
      <p:sp>
        <p:nvSpPr>
          <p:cNvPr id="13" name="Shape 10"/>
          <p:cNvSpPr/>
          <p:nvPr/>
        </p:nvSpPr>
        <p:spPr>
          <a:xfrm>
            <a:off x="500881" y="944389"/>
            <a:ext cx="8142238" cy="1322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66961" y="970136"/>
            <a:ext cx="3009974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Linear Regression </a:t>
            </a:r>
            <a:r>
              <a:rPr lang="en-US" sz="500" b="1" dirty="0">
                <a:solidFill>
                  <a:srgbClr val="2E7D32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— Champion Model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3256211" y="970136"/>
            <a:ext cx="2111946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0.2812</a:t>
            </a:r>
            <a:endParaRPr lang="en-US" sz="500" dirty="0"/>
          </a:p>
        </p:txBody>
      </p:sp>
      <p:sp>
        <p:nvSpPr>
          <p:cNvPr id="16" name="Text 13"/>
          <p:cNvSpPr/>
          <p:nvPr/>
        </p:nvSpPr>
        <p:spPr>
          <a:xfrm>
            <a:off x="5047431" y="970136"/>
            <a:ext cx="2111946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0.3532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6838652" y="970136"/>
            <a:ext cx="2195810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0.9496</a:t>
            </a:r>
            <a:endParaRPr lang="en-US" sz="500" dirty="0"/>
          </a:p>
        </p:txBody>
      </p:sp>
      <p:sp>
        <p:nvSpPr>
          <p:cNvPr id="18" name="Shape 15"/>
          <p:cNvSpPr/>
          <p:nvPr/>
        </p:nvSpPr>
        <p:spPr>
          <a:xfrm>
            <a:off x="500881" y="1076623"/>
            <a:ext cx="8142238" cy="2339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66961" y="1102370"/>
            <a:ext cx="3009974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Random Forest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3256211" y="1102370"/>
            <a:ext cx="1654746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spcAft>
                <a:spcPts val="150"/>
              </a:spcAft>
              <a:buNone/>
            </a:pPr>
            <a:r>
              <a:rPr lang="en-US" sz="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0.3597</a:t>
            </a:r>
            <a:endParaRPr lang="en-US" sz="500" dirty="0"/>
          </a:p>
        </p:txBody>
      </p:sp>
      <p:sp>
        <p:nvSpPr>
          <p:cNvPr id="21" name="Text 18"/>
          <p:cNvSpPr/>
          <p:nvPr/>
        </p:nvSpPr>
        <p:spPr>
          <a:xfrm>
            <a:off x="5047431" y="1102370"/>
            <a:ext cx="2111946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0.4639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6838652" y="1102370"/>
            <a:ext cx="2195810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0.9131</a:t>
            </a:r>
            <a:endParaRPr lang="en-US" sz="500" dirty="0"/>
          </a:p>
        </p:txBody>
      </p:sp>
      <p:sp>
        <p:nvSpPr>
          <p:cNvPr id="23" name="Shape 20"/>
          <p:cNvSpPr/>
          <p:nvPr/>
        </p:nvSpPr>
        <p:spPr>
          <a:xfrm>
            <a:off x="500881" y="1310580"/>
            <a:ext cx="8142238" cy="1322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566961" y="1336328"/>
            <a:ext cx="3009974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Tuned Random Forest</a:t>
            </a:r>
            <a:endParaRPr lang="en-US" sz="500" dirty="0"/>
          </a:p>
        </p:txBody>
      </p:sp>
      <p:sp>
        <p:nvSpPr>
          <p:cNvPr id="25" name="Text 22"/>
          <p:cNvSpPr/>
          <p:nvPr/>
        </p:nvSpPr>
        <p:spPr>
          <a:xfrm>
            <a:off x="3256211" y="1336328"/>
            <a:ext cx="2111946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0.3592</a:t>
            </a:r>
            <a:endParaRPr lang="en-US" sz="500" dirty="0"/>
          </a:p>
        </p:txBody>
      </p:sp>
      <p:sp>
        <p:nvSpPr>
          <p:cNvPr id="26" name="Text 23"/>
          <p:cNvSpPr/>
          <p:nvPr/>
        </p:nvSpPr>
        <p:spPr>
          <a:xfrm>
            <a:off x="5047431" y="1336328"/>
            <a:ext cx="2111946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0.4550</a:t>
            </a:r>
            <a:endParaRPr lang="en-US" sz="500" dirty="0"/>
          </a:p>
        </p:txBody>
      </p:sp>
      <p:sp>
        <p:nvSpPr>
          <p:cNvPr id="27" name="Text 24"/>
          <p:cNvSpPr/>
          <p:nvPr/>
        </p:nvSpPr>
        <p:spPr>
          <a:xfrm>
            <a:off x="6838652" y="1336328"/>
            <a:ext cx="2195810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0.9164</a:t>
            </a:r>
            <a:endParaRPr lang="en-US" sz="5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526307"/>
            <a:ext cx="3706788" cy="308892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485855" y="1518419"/>
            <a:ext cx="2623914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endParaRPr lang="en-US" sz="500" dirty="0"/>
          </a:p>
        </p:txBody>
      </p:sp>
      <p:sp>
        <p:nvSpPr>
          <p:cNvPr id="30" name="Text 26"/>
          <p:cNvSpPr/>
          <p:nvPr/>
        </p:nvSpPr>
        <p:spPr>
          <a:xfrm>
            <a:off x="496119" y="4693965"/>
            <a:ext cx="860896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Predicted vs Actual values for the champion Linear Regression model.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2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" y="1265188"/>
            <a:ext cx="4914826" cy="26130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25319" y="387102"/>
            <a:ext cx="3302422" cy="285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Streamlit Web Application</a:t>
            </a:r>
            <a:endParaRPr lang="en-US" sz="18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5319" y="831056"/>
            <a:ext cx="285824" cy="28582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525319" y="1248594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Controls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5525319" y="1490514"/>
            <a:ext cx="312256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Temperature • Humidity • CO₂ sliders for on-the-fly scenario testing.</a:t>
            </a:r>
            <a:endParaRPr lang="en-US" sz="9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5319" y="2053010"/>
            <a:ext cx="285824" cy="28582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525319" y="2470547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Prediction output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5525319" y="2712467"/>
            <a:ext cx="312256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Instant yield forecast (kg) with confidence band and model metadata.</a:t>
            </a:r>
            <a:endParaRPr lang="en-US" sz="9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5319" y="3274963"/>
            <a:ext cx="285824" cy="28582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525319" y="3692500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5525319" y="3934420"/>
            <a:ext cx="312256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Streamlit Community Cloud • GitHub repository for code and reproducibility.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5525319" y="4404643"/>
            <a:ext cx="312256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Callouts: Temperature Slider • Humidity Slider • CO₂ Slider • Prediction Output • Model Info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092"/>
            <a:ext cx="320151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Monitoring &amp; production thinking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41759"/>
            <a:ext cx="8151763" cy="3521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1329" y="3360376"/>
            <a:ext cx="1210397" cy="22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441329" y="3643533"/>
            <a:ext cx="1210397" cy="30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Generate model output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49316" y="3360376"/>
            <a:ext cx="1210397" cy="22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Monitoring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549316" y="3643533"/>
            <a:ext cx="1210397" cy="30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 monitoring and alerts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1193" y="1059483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 Input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1193" y="1342640"/>
            <a:ext cx="1210397" cy="30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Collect features in cloud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53279" y="1059483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Retraining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053279" y="1342640"/>
            <a:ext cx="1210397" cy="30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 drift, trigger retraining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14612" y="1059483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Logging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14612" y="1342640"/>
            <a:ext cx="1210397" cy="30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Prediction logging for audit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4331866"/>
            <a:ext cx="218033" cy="21803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0798" y="4331866"/>
            <a:ext cx="109024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Prediction logging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90798" y="4504879"/>
            <a:ext cx="2371427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Stores timestamp, sensor inputs and predicted yield for future analysis and model monitoring.</a:t>
            </a:r>
            <a:endParaRPr lang="en-US" sz="6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8872" y="4331866"/>
            <a:ext cx="218033" cy="21803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33552" y="4331866"/>
            <a:ext cx="109024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Drift detection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533552" y="4504879"/>
            <a:ext cx="2371502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Detects changes in environmental sensor patterns that may reduce prediction accuracy over time.</a:t>
            </a:r>
            <a:endParaRPr lang="en-US" sz="6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1700" y="4331866"/>
            <a:ext cx="218033" cy="21803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76380" y="4331866"/>
            <a:ext cx="109024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Retraining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276380" y="4504879"/>
            <a:ext cx="2371502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model should be retrained when new production data becomes available or when model performance declines.s.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619"/>
            <a:ext cx="5844257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Achievements &amp; Future Improvements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071711"/>
            <a:ext cx="20451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achievements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389534"/>
            <a:ext cx="3924598" cy="174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Developed an end-to-end machine learning pipeline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Cleaned and validated 926 sensor observations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Compared three regression models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Selected and deployed the champion model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Built a live Streamlit application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Designed a monitoring and logging strategy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728046" y="1071711"/>
            <a:ext cx="203440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Future improvements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8046" y="1405086"/>
            <a:ext cx="310083" cy="3100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93134" y="1405086"/>
            <a:ext cx="174940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Collect Real sensor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93134" y="1722909"/>
            <a:ext cx="345951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Integrate high‑frequency IoT readings for finer resolution.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8046" y="2169393"/>
            <a:ext cx="310083" cy="3100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93134" y="216939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IoT integration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193134" y="2487216"/>
            <a:ext cx="345951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Edge-to-cloud pipeline for real-time control feedback loops.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8046" y="2933700"/>
            <a:ext cx="310083" cy="31008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93134" y="293370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Automatic retraining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193134" y="3251522"/>
            <a:ext cx="345951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Scheduled or event-driven retraining when drift is detected.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8046" y="3698007"/>
            <a:ext cx="310083" cy="31008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93134" y="369800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Dashboard analytics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193134" y="4015829"/>
            <a:ext cx="345951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Operational dashboards for planners and growers.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96119" y="4493344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project demonstrates the complete lifecycle of a machine learning solution—from data preparation to deployment and monitoring.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62173"/>
            <a:ext cx="2738586" cy="251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 &amp; Questions</a:t>
            </a:r>
            <a:endParaRPr lang="en-US" sz="1550" dirty="0"/>
          </a:p>
        </p:txBody>
      </p:sp>
      <p:sp>
        <p:nvSpPr>
          <p:cNvPr id="4" name="Shape 1"/>
          <p:cNvSpPr/>
          <p:nvPr/>
        </p:nvSpPr>
        <p:spPr>
          <a:xfrm>
            <a:off x="3925119" y="736922"/>
            <a:ext cx="226740" cy="226740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233714" y="771525"/>
            <a:ext cx="12598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233714" y="978098"/>
            <a:ext cx="4414168" cy="95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Built an end-to-end machine learning pipeline</a:t>
            </a:r>
            <a:endParaRPr lang="en-US" sz="7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Developed and compared multiple regression models</a:t>
            </a:r>
            <a:endParaRPr lang="en-US" sz="7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Selected Linear Regression as the champion model</a:t>
            </a:r>
            <a:endParaRPr lang="en-US" sz="7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Successfully deployed the application using Streamlit Community Cloud</a:t>
            </a:r>
            <a:endParaRPr lang="en-US" sz="7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Implemented a monitoring and logging strategy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3925119" y="2092449"/>
            <a:ext cx="226740" cy="226740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33714" y="2127052"/>
            <a:ext cx="12598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Deliverables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33714" y="2333625"/>
            <a:ext cx="4414168" cy="926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GitHub Repository</a:t>
            </a:r>
            <a:endParaRPr lang="en-US" sz="750" dirty="0"/>
          </a:p>
          <a:p>
            <a:pPr marL="0" indent="0" algn="l">
              <a:lnSpc>
                <a:spcPct val="12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Technical Report</a:t>
            </a:r>
            <a:endParaRPr lang="en-US" sz="750" dirty="0"/>
          </a:p>
          <a:p>
            <a:pPr marL="0" indent="0" algn="l">
              <a:lnSpc>
                <a:spcPct val="12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Streamlit Web Application</a:t>
            </a:r>
            <a:endParaRPr lang="en-US" sz="750" dirty="0"/>
          </a:p>
          <a:p>
            <a:pPr marL="0" indent="0" algn="l">
              <a:lnSpc>
                <a:spcPct val="12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Monitoring Plan</a:t>
            </a:r>
            <a:endParaRPr lang="en-US" sz="7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Final Presentation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925119" y="3424163"/>
            <a:ext cx="226740" cy="226740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33714" y="3458766"/>
            <a:ext cx="12598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Future Vision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33714" y="3665339"/>
            <a:ext cx="4414168" cy="87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Integrate real-world farm sensor data</a:t>
            </a:r>
            <a:endParaRPr lang="en-US" sz="750" dirty="0"/>
          </a:p>
          <a:p>
            <a:pPr marL="0" indent="0" algn="l">
              <a:lnSpc>
                <a:spcPct val="12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Expand environmental features</a:t>
            </a:r>
            <a:endParaRPr lang="en-US" sz="750" dirty="0"/>
          </a:p>
          <a:p>
            <a:pPr marL="0" indent="0" algn="l">
              <a:lnSpc>
                <a:spcPct val="12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Automate retraining</a:t>
            </a:r>
            <a:endParaRPr lang="en-US" sz="7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• Develop a real-time analytics dashboardc retraining and expand analytics for operational decisioning.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96519" y="4635178"/>
            <a:ext cx="5179963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Thank you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715</Words>
  <Application>Microsoft Office PowerPoint</Application>
  <PresentationFormat>On-screen Show (16:9)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Twemoji Mozilla</vt:lpstr>
      <vt:lpstr>Arial</vt:lpstr>
      <vt:lpstr>Instrument Sans Light</vt:lpstr>
      <vt:lpstr>Instrument Sans SemiBold</vt:lpstr>
      <vt:lpstr>Instrument Sans Medium</vt:lpstr>
      <vt:lpstr>Instrument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nandhanab015@gmail.com</cp:lastModifiedBy>
  <cp:revision>1</cp:revision>
  <dcterms:created xsi:type="dcterms:W3CDTF">2026-06-26T18:11:50Z</dcterms:created>
  <dcterms:modified xsi:type="dcterms:W3CDTF">2026-06-26T18:19:09Z</dcterms:modified>
</cp:coreProperties>
</file>